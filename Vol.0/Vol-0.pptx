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1" r:id="rId4"/>
    <p:sldId id="262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3" autoAdjust="0"/>
  </p:normalViewPr>
  <p:slideViewPr>
    <p:cSldViewPr snapToGrid="0">
      <p:cViewPr varScale="1">
        <p:scale>
          <a:sx n="49" d="100"/>
          <a:sy n="49" d="100"/>
        </p:scale>
        <p:origin x="2002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D1BB5-0470-3D5B-6675-B44A14531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E0B9B5-BD42-4B1A-F11C-10E936539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2F81E6-379A-AE23-BF7C-D14C7F7A7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C74E-28ED-4569-8082-98A9E689F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689F29-62A3-E379-2866-04B8D0677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E03A84-1BDC-D4C1-67D3-057316838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D403E-C7F8-4E07-8A66-702545C0F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508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866651-2182-FE1C-704E-798083D19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78FABF-9281-D806-C235-433DAE47A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A0A41F-304C-0F6F-88F1-82AE29D1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C74E-28ED-4569-8082-98A9E689F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1F1315-B42D-3960-4A64-7B23B37B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77B754-C294-AF04-CD5E-5D937DABF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D403E-C7F8-4E07-8A66-702545C0F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515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877D8-C5DA-C349-BC92-D6A32B613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B30F34-34DD-F9C3-FB2F-59CC6F3DD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6C08C0-6FFB-5D0D-1EB8-4DB01E955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C74E-28ED-4569-8082-98A9E689F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70B2E2-4C5C-0F82-642C-E26325CDF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35A9C8-7E9A-635A-A1C4-9F9D9ACFC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D403E-C7F8-4E07-8A66-702545C0F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017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8E1CA-16A4-E9F8-BCC9-E37BE47C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036C50-238F-8681-BE6E-F6FDD4444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F82856-EC25-820B-8398-98A52B631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668819-C289-BA8F-BD2D-CFE2D880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C74E-28ED-4569-8082-98A9E689F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18AA5E-27E9-0ED1-8441-E150488B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E236F9-3C0F-572E-AE84-62CFC2AF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D403E-C7F8-4E07-8A66-702545C0F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229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8E74B-A21B-9680-52D2-13C8E06C6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61BC85-629F-E857-6756-A7626100E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B9CE86-4547-0172-D741-40D1C655F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A3A9C6-6FA7-44F1-726C-FF818ED0D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516EA1-26B4-7BA3-EEA1-EBA7B0D47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7D55B0-4886-C417-750B-23A528848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C74E-28ED-4569-8082-98A9E689F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7E68E01-2BB3-6139-92ED-8E7E4F69D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15CAD9-A998-9F96-44A0-EBE84B44B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D403E-C7F8-4E07-8A66-702545C0F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32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688C3F-9AC8-7216-F94F-9FA4C4F2B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1D67C3-87E4-A0A5-3E3C-561328DA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C74E-28ED-4569-8082-98A9E689F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A1FA9C-631F-AA5A-1DCC-DFB5A300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F55AC1-FCF8-79B4-AB7E-7D329B09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D403E-C7F8-4E07-8A66-702545C0F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9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632F10-74BD-FFCB-23B8-912E60660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C74E-28ED-4569-8082-98A9E689F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D76F09-7237-1FD3-A214-51205B35A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733D9D-798B-AD26-874D-F403D2953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D403E-C7F8-4E07-8A66-702545C0F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662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019FA-36DA-BA29-D024-010ABB5DC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72B5DF-08CB-7C70-4B19-0E208B7A7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3CACDD-ECDE-14D4-7294-149DC998F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6AF945-1F50-AAC0-FBED-9DF284E2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C74E-28ED-4569-8082-98A9E689F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3C1F6F-CE8C-25E3-1CD8-89023845F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EC4B8D-49D0-2486-B16F-5B0D388C5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D403E-C7F8-4E07-8A66-702545C0F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05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42594-447B-58FD-7CCB-B45159C78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3AB5A4E-BA1C-5E9F-06B8-FE51967EF7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B0824B-2781-CD0D-B133-847A9F5FC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D9D611-0106-9677-EEE6-5A8E311DB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C74E-28ED-4569-8082-98A9E689F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A341F8-D08F-D12D-D44A-D47EBED13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B0D492-2090-59F8-0C90-46936837C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D403E-C7F8-4E07-8A66-702545C0F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70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5E0800-8424-2E53-2E5F-E2773C6F9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8EFDB7-067B-3F34-315E-62DE417E7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14546C-5E77-1C08-407C-78AB91D0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C74E-28ED-4569-8082-98A9E689F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C266CB-F4B9-AF3A-4B3B-FAB5A1DC6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D8C8DD-7F0A-D283-A4FE-B107865E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D403E-C7F8-4E07-8A66-702545C0F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04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9A0D74-3508-F81C-BFA9-50EC3C755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B2BE97-7286-7FD9-2C3F-A9818917D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2B93CF-6B38-C275-B68B-51F67759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C74E-28ED-4569-8082-98A9E689F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9968C1-D02E-7DDC-D7CC-29E25EACA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8E3BF6-1DD7-0A91-8B80-D979214A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D403E-C7F8-4E07-8A66-702545C0F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37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tx1">
              <a:lumMod val="65000"/>
              <a:lumOff val="35000"/>
            </a:schemeClr>
          </a:fgClr>
          <a:bgClr>
            <a:schemeClr val="tx1">
              <a:lumMod val="85000"/>
              <a:lumOff val="1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B0175D-E2D7-CBDF-33B0-3772A1BB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6F4CD3-6C5B-BFF1-A394-F6841FC32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4A1245-8930-EE75-008A-A48AF9001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FC74E-28ED-4569-8082-98A9E689F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2EEE2A-583D-3702-2AEA-4EBCED6C24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93B62F-860F-CC1D-AED2-52537D5B4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D403E-C7F8-4E07-8A66-702545C0F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82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tppuccin/vscode-icons" TargetMode="External"/><Relationship Id="rId2" Type="http://schemas.openxmlformats.org/officeDocument/2006/relationships/hyperlink" Target="https://github.com/devicons/devicon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6365F1C-2C69-E4DA-4444-6FFF6A4743CB}"/>
              </a:ext>
            </a:extLst>
          </p:cNvPr>
          <p:cNvGrpSpPr/>
          <p:nvPr/>
        </p:nvGrpSpPr>
        <p:grpSpPr>
          <a:xfrm>
            <a:off x="3075214" y="245610"/>
            <a:ext cx="6041572" cy="6020030"/>
            <a:chOff x="6096000" y="359229"/>
            <a:chExt cx="6041572" cy="602003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2D83A27-FA42-A1F2-73BA-EC8824832EAF}"/>
                </a:ext>
              </a:extLst>
            </p:cNvPr>
            <p:cNvSpPr/>
            <p:nvPr/>
          </p:nvSpPr>
          <p:spPr>
            <a:xfrm>
              <a:off x="6096000" y="359229"/>
              <a:ext cx="6041572" cy="602003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 w="47625">
              <a:solidFill>
                <a:schemeClr val="tx1">
                  <a:lumMod val="65000"/>
                  <a:lumOff val="35000"/>
                  <a:alpha val="99000"/>
                </a:schemeClr>
              </a:solidFill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EB9DD0A-D24D-2F8D-AE40-FA43E712F2BE}"/>
                </a:ext>
              </a:extLst>
            </p:cNvPr>
            <p:cNvSpPr txBox="1"/>
            <p:nvPr/>
          </p:nvSpPr>
          <p:spPr>
            <a:xfrm>
              <a:off x="6587566" y="922420"/>
              <a:ext cx="3884672" cy="49749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fn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</a:t>
              </a:r>
              <a:r>
                <a:rPr lang="en-US" altLang="zh-CN" sz="2400" b="0" i="0" dirty="0">
                  <a:solidFill>
                    <a:srgbClr val="61AFE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fibonacci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(n: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u32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) -&gt;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u64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{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if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n </a:t>
              </a:r>
              <a:r>
                <a:rPr lang="en-US" altLang="zh-CN" sz="2400" b="0" i="0" dirty="0">
                  <a:solidFill>
                    <a:srgbClr val="61AFE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&lt;=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</a:t>
              </a:r>
              <a:r>
                <a:rPr lang="en-US" altLang="zh-CN" sz="2400" b="0" i="0" dirty="0">
                  <a:solidFill>
                    <a:srgbClr val="D19965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1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{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   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return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n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as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u64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;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}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let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mut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a </a:t>
              </a:r>
              <a:r>
                <a:rPr lang="en-US" altLang="zh-CN" sz="2400" b="0" i="0" dirty="0">
                  <a:solidFill>
                    <a:srgbClr val="61AFE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=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</a:t>
              </a:r>
              <a:r>
                <a:rPr lang="en-US" altLang="zh-CN" sz="2400" b="0" i="0" dirty="0">
                  <a:solidFill>
                    <a:srgbClr val="D19965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0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;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let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mut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b </a:t>
              </a:r>
              <a:r>
                <a:rPr lang="en-US" altLang="zh-CN" sz="2400" b="0" i="0" dirty="0">
                  <a:solidFill>
                    <a:srgbClr val="61AFE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=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</a:t>
              </a:r>
              <a:r>
                <a:rPr lang="en-US" altLang="zh-CN" sz="2400" b="0" i="0" dirty="0">
                  <a:solidFill>
                    <a:srgbClr val="D19965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1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;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for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_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in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</a:t>
              </a:r>
              <a:r>
                <a:rPr lang="en-US" altLang="zh-CN" sz="2400" b="0" i="0" dirty="0">
                  <a:solidFill>
                    <a:srgbClr val="D19965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2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..=n {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   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let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next </a:t>
              </a:r>
              <a:r>
                <a:rPr lang="en-US" altLang="zh-CN" sz="2400" b="0" i="0" dirty="0">
                  <a:solidFill>
                    <a:srgbClr val="61AFE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=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a </a:t>
              </a:r>
              <a:r>
                <a:rPr lang="en-US" altLang="zh-CN" sz="2400" b="0" i="0" dirty="0">
                  <a:solidFill>
                    <a:srgbClr val="61AFE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+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b;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    a </a:t>
              </a:r>
              <a:r>
                <a:rPr lang="en-US" altLang="zh-CN" sz="2400" b="0" i="0" dirty="0">
                  <a:solidFill>
                    <a:srgbClr val="61AFE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=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b;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    b </a:t>
              </a:r>
              <a:r>
                <a:rPr lang="en-US" altLang="zh-CN" sz="2400" b="0" i="0" dirty="0">
                  <a:solidFill>
                    <a:srgbClr val="61AFE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=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next;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}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b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}</a:t>
              </a:r>
              <a:endParaRPr lang="zh-CN" altLang="en-US" sz="2400" dirty="0">
                <a:latin typeface="FiraMono Nerd Font Medium" panose="020B0609050000020004" pitchFamily="49" charset="0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FCC0DA18-7001-959F-93B0-2F66ABC07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95709" y="5287764"/>
              <a:ext cx="609600" cy="60960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707A838-F526-98E9-A1E2-17D47ECE072A}"/>
                </a:ext>
              </a:extLst>
            </p:cNvPr>
            <p:cNvSpPr txBox="1"/>
            <p:nvPr/>
          </p:nvSpPr>
          <p:spPr>
            <a:xfrm>
              <a:off x="11207519" y="5287764"/>
              <a:ext cx="500562" cy="297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aseline="30000" dirty="0">
                  <a:solidFill>
                    <a:schemeClr val="bg1">
                      <a:lumMod val="95000"/>
                    </a:schemeClr>
                  </a:solidFill>
                  <a:latin typeface="得意黑" pitchFamily="50" charset="-122"/>
                  <a:ea typeface="得意黑" pitchFamily="50" charset="-122"/>
                </a:rPr>
                <a:t>[2]</a:t>
              </a:r>
              <a:endParaRPr lang="zh-CN" altLang="en-US" sz="2000" baseline="30000" dirty="0">
                <a:solidFill>
                  <a:schemeClr val="bg1">
                    <a:lumMod val="95000"/>
                  </a:schemeClr>
                </a:solidFill>
                <a:latin typeface="得意黑" pitchFamily="50" charset="-122"/>
                <a:ea typeface="得意黑" pitchFamily="50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189B65A-6A0B-1292-1290-6F19C30FD012}"/>
              </a:ext>
            </a:extLst>
          </p:cNvPr>
          <p:cNvGrpSpPr/>
          <p:nvPr/>
        </p:nvGrpSpPr>
        <p:grpSpPr>
          <a:xfrm>
            <a:off x="3314700" y="1806908"/>
            <a:ext cx="5562600" cy="2677656"/>
            <a:chOff x="402771" y="468085"/>
            <a:chExt cx="5562600" cy="267765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B3A092DC-B74B-7095-53AD-5BFF826CD2EF}"/>
                </a:ext>
              </a:extLst>
            </p:cNvPr>
            <p:cNvSpPr/>
            <p:nvPr/>
          </p:nvSpPr>
          <p:spPr>
            <a:xfrm>
              <a:off x="402771" y="468086"/>
              <a:ext cx="5431973" cy="26670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 w="47625">
              <a:solidFill>
                <a:schemeClr val="tx1">
                  <a:lumMod val="65000"/>
                  <a:lumOff val="35000"/>
                  <a:alpha val="99000"/>
                </a:schemeClr>
              </a:solidFill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3789878-43FF-01EF-5AC5-8588E59BE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6878" y="960636"/>
              <a:ext cx="609600" cy="609600"/>
            </a:xfrm>
            <a:prstGeom prst="rect">
              <a:avLst/>
            </a:prstGeom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15181D3-FF31-A968-330B-3507EF94B3D0}"/>
                </a:ext>
              </a:extLst>
            </p:cNvPr>
            <p:cNvSpPr txBox="1"/>
            <p:nvPr/>
          </p:nvSpPr>
          <p:spPr>
            <a:xfrm>
              <a:off x="457200" y="468085"/>
              <a:ext cx="5508171" cy="2677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def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</a:t>
              </a:r>
              <a:r>
                <a:rPr lang="en-US" altLang="zh-CN" sz="2400" b="0" i="0" dirty="0">
                  <a:solidFill>
                    <a:srgbClr val="61AFE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fibonacci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(n):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if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n </a:t>
              </a:r>
              <a:r>
                <a:rPr lang="en-US" altLang="zh-CN" sz="2400" b="0" i="0" dirty="0">
                  <a:solidFill>
                    <a:srgbClr val="61AFE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&lt;=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</a:t>
              </a:r>
              <a:r>
                <a:rPr lang="en-US" altLang="zh-CN" sz="2400" b="0" i="0" dirty="0">
                  <a:solidFill>
                    <a:srgbClr val="D19965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1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: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   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return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n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a, b </a:t>
              </a:r>
              <a:r>
                <a:rPr lang="en-US" altLang="zh-CN" sz="2400" b="0" i="0" dirty="0">
                  <a:solidFill>
                    <a:srgbClr val="61AFE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=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</a:t>
              </a:r>
              <a:r>
                <a:rPr lang="en-US" altLang="zh-CN" sz="2400" b="0" i="0" dirty="0">
                  <a:solidFill>
                    <a:srgbClr val="D19965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0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, </a:t>
              </a:r>
              <a:r>
                <a:rPr lang="en-US" altLang="zh-CN" sz="2400" b="0" i="0" dirty="0">
                  <a:solidFill>
                    <a:srgbClr val="D19965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1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for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_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in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</a:t>
              </a:r>
              <a:r>
                <a:rPr lang="en-US" altLang="zh-CN" sz="2400" b="0" i="0" dirty="0">
                  <a:solidFill>
                    <a:srgbClr val="97C279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range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(</a:t>
              </a:r>
              <a:r>
                <a:rPr lang="en-US" altLang="zh-CN" sz="2400" b="0" i="0" dirty="0">
                  <a:solidFill>
                    <a:srgbClr val="D19965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2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, n </a:t>
              </a:r>
              <a:r>
                <a:rPr lang="en-US" altLang="zh-CN" sz="2400" b="0" i="0" dirty="0">
                  <a:solidFill>
                    <a:srgbClr val="61AFE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+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</a:t>
              </a:r>
              <a:r>
                <a:rPr lang="en-US" altLang="zh-CN" sz="2400" b="0" i="0" dirty="0">
                  <a:solidFill>
                    <a:srgbClr val="D19965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1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):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    a, b </a:t>
              </a:r>
              <a:r>
                <a:rPr lang="en-US" altLang="zh-CN" sz="2400" b="0" i="0" dirty="0">
                  <a:solidFill>
                    <a:srgbClr val="61AFE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=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b, a </a:t>
              </a:r>
              <a:r>
                <a:rPr lang="en-US" altLang="zh-CN" sz="2400" b="0" i="0" dirty="0">
                  <a:solidFill>
                    <a:srgbClr val="61AFE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+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b</a:t>
              </a:r>
              <a:br>
                <a:rPr lang="en-US" altLang="zh-CN" sz="2400" dirty="0"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</a:b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   </a:t>
              </a:r>
              <a:r>
                <a:rPr lang="en-US" altLang="zh-CN" sz="2400" b="0" i="0" dirty="0">
                  <a:solidFill>
                    <a:srgbClr val="C578DD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return</a:t>
              </a:r>
              <a:r>
                <a:rPr lang="en-US" altLang="zh-CN" sz="2400" b="0" i="0" dirty="0">
                  <a:solidFill>
                    <a:srgbClr val="AAB1BF"/>
                  </a:solidFill>
                  <a:effectLst/>
                  <a:latin typeface="FiraMono Nerd Font Medium" panose="020B0609050000020004" pitchFamily="49" charset="0"/>
                  <a:ea typeface="FiraMono Nerd Font Medium" panose="020B0609050000020004" pitchFamily="49" charset="0"/>
                </a:rPr>
                <a:t> b</a:t>
              </a:r>
              <a:endParaRPr lang="zh-CN" altLang="en-US" sz="2400" dirty="0">
                <a:latin typeface="FiraMono Nerd Font Medium" panose="020B0609050000020004" pitchFamily="49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CCB7684-A656-6143-E00B-609FBE5F51F2}"/>
                </a:ext>
              </a:extLst>
            </p:cNvPr>
            <p:cNvSpPr txBox="1"/>
            <p:nvPr/>
          </p:nvSpPr>
          <p:spPr>
            <a:xfrm>
              <a:off x="4833438" y="823023"/>
              <a:ext cx="386080" cy="297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aseline="30000" dirty="0">
                  <a:solidFill>
                    <a:schemeClr val="bg1">
                      <a:lumMod val="95000"/>
                    </a:schemeClr>
                  </a:solidFill>
                  <a:latin typeface="得意黑" pitchFamily="50" charset="-122"/>
                  <a:ea typeface="得意黑" pitchFamily="50" charset="-122"/>
                </a:rPr>
                <a:t>[1]</a:t>
              </a:r>
              <a:endParaRPr lang="zh-CN" altLang="en-US" sz="2000" baseline="30000" dirty="0">
                <a:solidFill>
                  <a:schemeClr val="bg1">
                    <a:lumMod val="95000"/>
                  </a:schemeClr>
                </a:solidFill>
                <a:latin typeface="得意黑" pitchFamily="50" charset="-122"/>
                <a:ea typeface="得意黑" pitchFamily="50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C0D391C-F10B-2678-8AAD-D13F4CF03672}"/>
              </a:ext>
            </a:extLst>
          </p:cNvPr>
          <p:cNvGrpSpPr/>
          <p:nvPr/>
        </p:nvGrpSpPr>
        <p:grpSpPr>
          <a:xfrm>
            <a:off x="5403214" y="2060409"/>
            <a:ext cx="1440000" cy="2160000"/>
            <a:chOff x="945717" y="4157223"/>
            <a:chExt cx="1440000" cy="2160000"/>
          </a:xfrm>
        </p:grpSpPr>
        <p:sp>
          <p:nvSpPr>
            <p:cNvPr id="12" name="矩形: 折角 11">
              <a:extLst>
                <a:ext uri="{FF2B5EF4-FFF2-40B4-BE49-F238E27FC236}">
                  <a16:creationId xmlns:a16="http://schemas.microsoft.com/office/drawing/2014/main" id="{0B06B291-1C98-F899-86BE-C09E438CB9FA}"/>
                </a:ext>
              </a:extLst>
            </p:cNvPr>
            <p:cNvSpPr/>
            <p:nvPr/>
          </p:nvSpPr>
          <p:spPr>
            <a:xfrm rot="10800000" flipH="1">
              <a:off x="945717" y="4157223"/>
              <a:ext cx="1440000" cy="2160000"/>
            </a:xfrm>
            <a:prstGeom prst="foldedCorner">
              <a:avLst>
                <a:gd name="adj" fmla="val 37469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850C8B86-7619-FDB0-BB1D-AE50042DB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60917" y="5047639"/>
              <a:ext cx="609600" cy="609600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A7A5AD7-C793-6A64-596E-D467DF8A8347}"/>
                </a:ext>
              </a:extLst>
            </p:cNvPr>
            <p:cNvSpPr txBox="1"/>
            <p:nvPr/>
          </p:nvSpPr>
          <p:spPr>
            <a:xfrm>
              <a:off x="1696173" y="4939706"/>
              <a:ext cx="386080" cy="297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aseline="30000" dirty="0">
                  <a:solidFill>
                    <a:schemeClr val="bg1">
                      <a:lumMod val="95000"/>
                    </a:schemeClr>
                  </a:solidFill>
                  <a:latin typeface="得意黑" pitchFamily="50" charset="-122"/>
                  <a:ea typeface="得意黑" pitchFamily="50" charset="-122"/>
                </a:rPr>
                <a:t>[1]</a:t>
              </a:r>
              <a:endParaRPr lang="zh-CN" altLang="en-US" sz="2000" baseline="30000" dirty="0">
                <a:solidFill>
                  <a:schemeClr val="bg1">
                    <a:lumMod val="95000"/>
                  </a:schemeClr>
                </a:solidFill>
                <a:latin typeface="得意黑" pitchFamily="50" charset="-122"/>
                <a:ea typeface="得意黑" pitchFamily="50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3070AB0-5ED0-EED0-F053-097AABD085A0}"/>
              </a:ext>
            </a:extLst>
          </p:cNvPr>
          <p:cNvGrpSpPr/>
          <p:nvPr/>
        </p:nvGrpSpPr>
        <p:grpSpPr>
          <a:xfrm>
            <a:off x="5411195" y="2060409"/>
            <a:ext cx="1440000" cy="2160000"/>
            <a:chOff x="9034961" y="2349000"/>
            <a:chExt cx="1440000" cy="2160000"/>
          </a:xfrm>
        </p:grpSpPr>
        <p:sp>
          <p:nvSpPr>
            <p:cNvPr id="23" name="矩形: 折角 22">
              <a:extLst>
                <a:ext uri="{FF2B5EF4-FFF2-40B4-BE49-F238E27FC236}">
                  <a16:creationId xmlns:a16="http://schemas.microsoft.com/office/drawing/2014/main" id="{23697180-359F-6168-5CC6-01B758C72D84}"/>
                </a:ext>
              </a:extLst>
            </p:cNvPr>
            <p:cNvSpPr/>
            <p:nvPr/>
          </p:nvSpPr>
          <p:spPr>
            <a:xfrm rot="10800000" flipH="1">
              <a:off x="9034961" y="2349000"/>
              <a:ext cx="1440000" cy="2160000"/>
            </a:xfrm>
            <a:prstGeom prst="foldedCorner">
              <a:avLst>
                <a:gd name="adj" fmla="val 37469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34AA552-3DCF-412C-7F2B-4E8583347214}"/>
                </a:ext>
              </a:extLst>
            </p:cNvPr>
            <p:cNvGrpSpPr/>
            <p:nvPr/>
          </p:nvGrpSpPr>
          <p:grpSpPr>
            <a:xfrm>
              <a:off x="9418722" y="3255625"/>
              <a:ext cx="1012372" cy="609600"/>
              <a:chOff x="8441873" y="5203681"/>
              <a:chExt cx="1012372" cy="609600"/>
            </a:xfrm>
          </p:grpSpPr>
          <p:pic>
            <p:nvPicPr>
              <p:cNvPr id="20" name="图片 19">
                <a:extLst>
                  <a:ext uri="{FF2B5EF4-FFF2-40B4-BE49-F238E27FC236}">
                    <a16:creationId xmlns:a16="http://schemas.microsoft.com/office/drawing/2014/main" id="{9ACE6A15-1F35-AF2E-A709-9D2E4FD53C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41873" y="5203681"/>
                <a:ext cx="609600" cy="609600"/>
              </a:xfrm>
              <a:prstGeom prst="rect">
                <a:avLst/>
              </a:prstGeom>
            </p:spPr>
          </p:pic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3015791-6A18-44D4-1EE9-44C27689D9D6}"/>
                  </a:ext>
                </a:extLst>
              </p:cNvPr>
              <p:cNvSpPr txBox="1"/>
              <p:nvPr/>
            </p:nvSpPr>
            <p:spPr>
              <a:xfrm>
                <a:off x="8953683" y="5203681"/>
                <a:ext cx="500562" cy="297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aseline="30000" dirty="0">
                    <a:solidFill>
                      <a:schemeClr val="bg1">
                        <a:lumMod val="95000"/>
                      </a:schemeClr>
                    </a:solidFill>
                    <a:latin typeface="得意黑" pitchFamily="50" charset="-122"/>
                    <a:ea typeface="得意黑" pitchFamily="50" charset="-122"/>
                  </a:rPr>
                  <a:t>[2]</a:t>
                </a:r>
                <a:endParaRPr lang="zh-CN" altLang="en-US" sz="2000" baseline="30000" dirty="0">
                  <a:solidFill>
                    <a:schemeClr val="bg1">
                      <a:lumMod val="95000"/>
                    </a:schemeClr>
                  </a:solidFill>
                  <a:latin typeface="得意黑" pitchFamily="50" charset="-122"/>
                  <a:ea typeface="得意黑" pitchFamily="50" charset="-122"/>
                </a:endParaRPr>
              </a:p>
            </p:txBody>
          </p:sp>
        </p:grp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2779825-AD8C-7BA8-6B11-457D9BA9B177}"/>
              </a:ext>
            </a:extLst>
          </p:cNvPr>
          <p:cNvSpPr/>
          <p:nvPr/>
        </p:nvSpPr>
        <p:spPr>
          <a:xfrm>
            <a:off x="5016000" y="2071982"/>
            <a:ext cx="2160000" cy="216000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  <a:latin typeface="得意黑" pitchFamily="50" charset="-122"/>
                <a:ea typeface="得意黑" pitchFamily="50" charset="-122"/>
              </a:rPr>
              <a:t>Compiler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12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00"/>
    </mc:Choice>
    <mc:Fallback xmlns=""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2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3.7037E-7 L -0.35091 -3.7037E-7 " pathEditMode="relative" rAng="0" ptsTypes="AA">
                                      <p:cBhvr>
                                        <p:cTn id="20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55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"/>
                            </p:stCondLst>
                            <p:childTnLst>
                              <p:par>
                                <p:cTn id="3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3.7037E-7 L 0.39558 0.00232 " pathEditMode="relative" rAng="0" ptsTypes="AA">
                                      <p:cBhvr>
                                        <p:cTn id="3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79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9621BDF-1DB3-AFD2-4023-2005E8EA33B5}"/>
              </a:ext>
            </a:extLst>
          </p:cNvPr>
          <p:cNvGrpSpPr/>
          <p:nvPr/>
        </p:nvGrpSpPr>
        <p:grpSpPr>
          <a:xfrm>
            <a:off x="816429" y="696686"/>
            <a:ext cx="10959361" cy="5584371"/>
            <a:chOff x="816429" y="696686"/>
            <a:chExt cx="10959361" cy="558437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BB7B8E3-F0E1-A7B4-0EB7-DEEAA537F308}"/>
                </a:ext>
              </a:extLst>
            </p:cNvPr>
            <p:cNvGrpSpPr/>
            <p:nvPr/>
          </p:nvGrpSpPr>
          <p:grpSpPr>
            <a:xfrm>
              <a:off x="6594190" y="740978"/>
              <a:ext cx="5181600" cy="4590548"/>
              <a:chOff x="6736080" y="845444"/>
              <a:chExt cx="5181600" cy="4590548"/>
            </a:xfrm>
          </p:grpSpPr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0F58C32-47DB-3315-7F4B-A6A175B2D388}"/>
                  </a:ext>
                </a:extLst>
              </p:cNvPr>
              <p:cNvSpPr txBox="1"/>
              <p:nvPr/>
            </p:nvSpPr>
            <p:spPr>
              <a:xfrm>
                <a:off x="6736080" y="845444"/>
                <a:ext cx="51816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5400" b="1" dirty="0">
                    <a:solidFill>
                      <a:schemeClr val="bg2">
                        <a:lumMod val="75000"/>
                      </a:schemeClr>
                    </a:solidFill>
                    <a:latin typeface="得意黑" pitchFamily="50" charset="-122"/>
                    <a:ea typeface="得意黑" pitchFamily="50" charset="-122"/>
                  </a:rPr>
                  <a:t>如何</a:t>
                </a:r>
                <a:r>
                  <a:rPr lang="zh-CN" altLang="en-US" sz="54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得意黑" pitchFamily="50" charset="-122"/>
                    <a:ea typeface="得意黑" pitchFamily="50" charset="-122"/>
                  </a:rPr>
                  <a:t>科学</a:t>
                </a:r>
                <a:r>
                  <a:rPr lang="zh-CN" altLang="en-US" sz="5400" b="1" dirty="0">
                    <a:solidFill>
                      <a:schemeClr val="bg2">
                        <a:lumMod val="75000"/>
                      </a:schemeClr>
                    </a:solidFill>
                    <a:latin typeface="得意黑" pitchFamily="50" charset="-122"/>
                    <a:ea typeface="得意黑" pitchFamily="50" charset="-122"/>
                  </a:rPr>
                  <a:t>的</a:t>
                </a:r>
                <a:endParaRPr lang="en-US" altLang="zh-CN" sz="5400" b="1" dirty="0">
                  <a:solidFill>
                    <a:schemeClr val="bg2">
                      <a:lumMod val="75000"/>
                    </a:schemeClr>
                  </a:solidFill>
                  <a:latin typeface="得意黑" pitchFamily="50" charset="-122"/>
                  <a:ea typeface="得意黑" pitchFamily="50" charset="-122"/>
                </a:endParaRPr>
              </a:p>
              <a:p>
                <a:r>
                  <a:rPr lang="en-US" altLang="zh-CN" sz="5400" b="1" dirty="0">
                    <a:solidFill>
                      <a:schemeClr val="bg2">
                        <a:lumMod val="75000"/>
                      </a:schemeClr>
                    </a:solidFill>
                    <a:latin typeface="得意黑" pitchFamily="50" charset="-122"/>
                    <a:ea typeface="得意黑" pitchFamily="50" charset="-122"/>
                  </a:rPr>
                  <a:t>	</a:t>
                </a:r>
                <a:r>
                  <a:rPr lang="zh-CN" altLang="en-US" sz="5400" b="1" dirty="0">
                    <a:solidFill>
                      <a:schemeClr val="bg2">
                        <a:lumMod val="75000"/>
                      </a:schemeClr>
                    </a:solidFill>
                    <a:latin typeface="得意黑" pitchFamily="50" charset="-122"/>
                    <a:ea typeface="得意黑" pitchFamily="50" charset="-122"/>
                  </a:rPr>
                  <a:t>制作一个</a:t>
                </a:r>
                <a:r>
                  <a:rPr lang="zh-CN" altLang="en-US" sz="54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得意黑" pitchFamily="50" charset="-122"/>
                    <a:ea typeface="得意黑" pitchFamily="50" charset="-122"/>
                  </a:rPr>
                  <a:t>编译器</a:t>
                </a:r>
                <a:r>
                  <a:rPr lang="zh-CN" altLang="en-US" sz="5400" b="1" dirty="0">
                    <a:solidFill>
                      <a:schemeClr val="bg2">
                        <a:lumMod val="75000"/>
                      </a:schemeClr>
                    </a:solidFill>
                    <a:latin typeface="得意黑" pitchFamily="50" charset="-122"/>
                    <a:ea typeface="得意黑" pitchFamily="50" charset="-122"/>
                  </a:rPr>
                  <a:t>？</a:t>
                </a: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542E42B-FDA9-57E9-815D-D454820B1E4F}"/>
                  </a:ext>
                </a:extLst>
              </p:cNvPr>
              <p:cNvSpPr/>
              <p:nvPr/>
            </p:nvSpPr>
            <p:spPr>
              <a:xfrm>
                <a:off x="7533852" y="4467163"/>
                <a:ext cx="174172" cy="968829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1B05571-0D66-2BE1-9034-7E5593771EA9}"/>
                  </a:ext>
                </a:extLst>
              </p:cNvPr>
              <p:cNvSpPr txBox="1"/>
              <p:nvPr/>
            </p:nvSpPr>
            <p:spPr>
              <a:xfrm>
                <a:off x="7909410" y="4470051"/>
                <a:ext cx="3287486" cy="954107"/>
              </a:xfrm>
              <a:custGeom>
                <a:avLst/>
                <a:gdLst>
                  <a:gd name="connsiteX0" fmla="*/ 0 w 3287486"/>
                  <a:gd name="connsiteY0" fmla="*/ 0 h 954107"/>
                  <a:gd name="connsiteX1" fmla="*/ 515039 w 3287486"/>
                  <a:gd name="connsiteY1" fmla="*/ 0 h 954107"/>
                  <a:gd name="connsiteX2" fmla="*/ 964329 w 3287486"/>
                  <a:gd name="connsiteY2" fmla="*/ 0 h 954107"/>
                  <a:gd name="connsiteX3" fmla="*/ 1577993 w 3287486"/>
                  <a:gd name="connsiteY3" fmla="*/ 0 h 954107"/>
                  <a:gd name="connsiteX4" fmla="*/ 2093033 w 3287486"/>
                  <a:gd name="connsiteY4" fmla="*/ 0 h 954107"/>
                  <a:gd name="connsiteX5" fmla="*/ 2608072 w 3287486"/>
                  <a:gd name="connsiteY5" fmla="*/ 0 h 954107"/>
                  <a:gd name="connsiteX6" fmla="*/ 3287486 w 3287486"/>
                  <a:gd name="connsiteY6" fmla="*/ 0 h 954107"/>
                  <a:gd name="connsiteX7" fmla="*/ 3287486 w 3287486"/>
                  <a:gd name="connsiteY7" fmla="*/ 457971 h 954107"/>
                  <a:gd name="connsiteX8" fmla="*/ 3287486 w 3287486"/>
                  <a:gd name="connsiteY8" fmla="*/ 954107 h 954107"/>
                  <a:gd name="connsiteX9" fmla="*/ 2805321 w 3287486"/>
                  <a:gd name="connsiteY9" fmla="*/ 954107 h 954107"/>
                  <a:gd name="connsiteX10" fmla="*/ 2257407 w 3287486"/>
                  <a:gd name="connsiteY10" fmla="*/ 954107 h 954107"/>
                  <a:gd name="connsiteX11" fmla="*/ 1709493 w 3287486"/>
                  <a:gd name="connsiteY11" fmla="*/ 954107 h 954107"/>
                  <a:gd name="connsiteX12" fmla="*/ 1194453 w 3287486"/>
                  <a:gd name="connsiteY12" fmla="*/ 954107 h 954107"/>
                  <a:gd name="connsiteX13" fmla="*/ 580789 w 3287486"/>
                  <a:gd name="connsiteY13" fmla="*/ 954107 h 954107"/>
                  <a:gd name="connsiteX14" fmla="*/ 0 w 3287486"/>
                  <a:gd name="connsiteY14" fmla="*/ 954107 h 954107"/>
                  <a:gd name="connsiteX15" fmla="*/ 0 w 3287486"/>
                  <a:gd name="connsiteY15" fmla="*/ 496136 h 954107"/>
                  <a:gd name="connsiteX16" fmla="*/ 0 w 3287486"/>
                  <a:gd name="connsiteY16" fmla="*/ 0 h 954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287486" h="954107" extrusionOk="0">
                    <a:moveTo>
                      <a:pt x="0" y="0"/>
                    </a:moveTo>
                    <a:cubicBezTo>
                      <a:pt x="161600" y="-55001"/>
                      <a:pt x="392024" y="1565"/>
                      <a:pt x="515039" y="0"/>
                    </a:cubicBezTo>
                    <a:cubicBezTo>
                      <a:pt x="638054" y="-1565"/>
                      <a:pt x="792591" y="3414"/>
                      <a:pt x="964329" y="0"/>
                    </a:cubicBezTo>
                    <a:cubicBezTo>
                      <a:pt x="1136067" y="-3414"/>
                      <a:pt x="1377498" y="23894"/>
                      <a:pt x="1577993" y="0"/>
                    </a:cubicBezTo>
                    <a:cubicBezTo>
                      <a:pt x="1778488" y="-23894"/>
                      <a:pt x="1938231" y="59387"/>
                      <a:pt x="2093033" y="0"/>
                    </a:cubicBezTo>
                    <a:cubicBezTo>
                      <a:pt x="2247835" y="-59387"/>
                      <a:pt x="2399125" y="32315"/>
                      <a:pt x="2608072" y="0"/>
                    </a:cubicBezTo>
                    <a:cubicBezTo>
                      <a:pt x="2817019" y="-32315"/>
                      <a:pt x="3055143" y="68971"/>
                      <a:pt x="3287486" y="0"/>
                    </a:cubicBezTo>
                    <a:cubicBezTo>
                      <a:pt x="3298534" y="117221"/>
                      <a:pt x="3239479" y="254607"/>
                      <a:pt x="3287486" y="457971"/>
                    </a:cubicBezTo>
                    <a:cubicBezTo>
                      <a:pt x="3335493" y="661335"/>
                      <a:pt x="3256468" y="757503"/>
                      <a:pt x="3287486" y="954107"/>
                    </a:cubicBezTo>
                    <a:cubicBezTo>
                      <a:pt x="3052564" y="1003782"/>
                      <a:pt x="2903550" y="953486"/>
                      <a:pt x="2805321" y="954107"/>
                    </a:cubicBezTo>
                    <a:cubicBezTo>
                      <a:pt x="2707092" y="954728"/>
                      <a:pt x="2368532" y="900617"/>
                      <a:pt x="2257407" y="954107"/>
                    </a:cubicBezTo>
                    <a:cubicBezTo>
                      <a:pt x="2146282" y="1007597"/>
                      <a:pt x="1945057" y="896601"/>
                      <a:pt x="1709493" y="954107"/>
                    </a:cubicBezTo>
                    <a:cubicBezTo>
                      <a:pt x="1473929" y="1011613"/>
                      <a:pt x="1334965" y="923694"/>
                      <a:pt x="1194453" y="954107"/>
                    </a:cubicBezTo>
                    <a:cubicBezTo>
                      <a:pt x="1053941" y="984520"/>
                      <a:pt x="716289" y="948488"/>
                      <a:pt x="580789" y="954107"/>
                    </a:cubicBezTo>
                    <a:cubicBezTo>
                      <a:pt x="445289" y="959726"/>
                      <a:pt x="205423" y="890334"/>
                      <a:pt x="0" y="954107"/>
                    </a:cubicBezTo>
                    <a:cubicBezTo>
                      <a:pt x="-40069" y="750809"/>
                      <a:pt x="51408" y="709054"/>
                      <a:pt x="0" y="496136"/>
                    </a:cubicBezTo>
                    <a:cubicBezTo>
                      <a:pt x="-51408" y="283218"/>
                      <a:pt x="19498" y="184269"/>
                      <a:pt x="0" y="0"/>
                    </a:cubicBezTo>
                    <a:close/>
                  </a:path>
                </a:pathLst>
              </a:custGeom>
              <a:noFill/>
              <a:ln w="34925">
                <a:solidFill>
                  <a:schemeClr val="bg2">
                    <a:lumMod val="90000"/>
                  </a:schemeClr>
                </a:solidFill>
                <a:prstDash val="dashDot"/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2">
                        <a:lumMod val="90000"/>
                      </a:schemeClr>
                    </a:solidFill>
                    <a:latin typeface="得意黑" pitchFamily="50" charset="-122"/>
                    <a:ea typeface="得意黑" pitchFamily="50" charset="-122"/>
                  </a:rPr>
                  <a:t>Vol.0</a:t>
                </a:r>
              </a:p>
              <a:p>
                <a:r>
                  <a:rPr lang="en-US" altLang="zh-CN" sz="2800" dirty="0">
                    <a:solidFill>
                      <a:schemeClr val="bg2">
                        <a:lumMod val="90000"/>
                      </a:schemeClr>
                    </a:solidFill>
                    <a:latin typeface="得意黑" pitchFamily="50" charset="-122"/>
                    <a:ea typeface="得意黑" pitchFamily="50" charset="-122"/>
                  </a:rPr>
                  <a:t>Made By </a:t>
                </a:r>
                <a:r>
                  <a:rPr lang="zh-CN" altLang="en-US" sz="2800" b="1" dirty="0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得意黑" pitchFamily="50" charset="-122"/>
                    <a:ea typeface="得意黑" pitchFamily="50" charset="-122"/>
                  </a:rPr>
                  <a:t>在下未定义</a:t>
                </a:r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30E8B54C-5643-D92C-2645-04B20D78290F}"/>
                </a:ext>
              </a:extLst>
            </p:cNvPr>
            <p:cNvGrpSpPr/>
            <p:nvPr/>
          </p:nvGrpSpPr>
          <p:grpSpPr>
            <a:xfrm>
              <a:off x="816429" y="696686"/>
              <a:ext cx="5279571" cy="5584371"/>
              <a:chOff x="816429" y="696686"/>
              <a:chExt cx="5279571" cy="5584371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E2991793-CE86-E003-25B7-95DE22AA2754}"/>
                  </a:ext>
                </a:extLst>
              </p:cNvPr>
              <p:cNvSpPr/>
              <p:nvPr/>
            </p:nvSpPr>
            <p:spPr>
              <a:xfrm>
                <a:off x="816429" y="696686"/>
                <a:ext cx="5279571" cy="5584371"/>
              </a:xfrm>
              <a:prstGeom prst="roundRect">
                <a:avLst/>
              </a:prstGeom>
              <a:noFill/>
              <a:ln w="41275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DA083ABC-574B-4C59-71EC-C3E489607C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7814" y="990600"/>
                <a:ext cx="4876800" cy="4876800"/>
              </a:xfrm>
              <a:prstGeom prst="rect">
                <a:avLst/>
              </a:prstGeom>
            </p:spPr>
          </p:pic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99E6CDF-A58B-9DDF-2D21-91BAFFE45363}"/>
                  </a:ext>
                </a:extLst>
              </p:cNvPr>
              <p:cNvSpPr txBox="1"/>
              <p:nvPr/>
            </p:nvSpPr>
            <p:spPr>
              <a:xfrm>
                <a:off x="4760867" y="1573849"/>
                <a:ext cx="822960" cy="297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baseline="30000" dirty="0">
                    <a:solidFill>
                      <a:schemeClr val="bg2"/>
                    </a:solidFill>
                    <a:latin typeface="得意黑" pitchFamily="50" charset="-122"/>
                    <a:ea typeface="得意黑" pitchFamily="50" charset="-122"/>
                  </a:rPr>
                  <a:t>[1]</a:t>
                </a:r>
                <a:endParaRPr lang="zh-CN" altLang="en-US" sz="2000" b="1" baseline="30000" dirty="0">
                  <a:solidFill>
                    <a:schemeClr val="bg2"/>
                  </a:solidFill>
                  <a:latin typeface="得意黑" pitchFamily="50" charset="-122"/>
                  <a:ea typeface="得意黑" pitchFamily="50" charset="-122"/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8983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041EF2A3-C741-F6D4-AD6B-504174035535}"/>
              </a:ext>
            </a:extLst>
          </p:cNvPr>
          <p:cNvSpPr/>
          <p:nvPr/>
        </p:nvSpPr>
        <p:spPr>
          <a:xfrm>
            <a:off x="12777281" y="1867710"/>
            <a:ext cx="2636196" cy="312257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67ACE7D-2ACF-F2A0-64F7-E01065D808DC}"/>
              </a:ext>
            </a:extLst>
          </p:cNvPr>
          <p:cNvSpPr/>
          <p:nvPr/>
        </p:nvSpPr>
        <p:spPr>
          <a:xfrm>
            <a:off x="15306797" y="1867710"/>
            <a:ext cx="2636196" cy="312257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E3B0B1-B1F4-AC91-CD08-75C8CAAE2FCC}"/>
              </a:ext>
            </a:extLst>
          </p:cNvPr>
          <p:cNvSpPr txBox="1"/>
          <p:nvPr/>
        </p:nvSpPr>
        <p:spPr>
          <a:xfrm>
            <a:off x="4511202" y="2921168"/>
            <a:ext cx="26361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tx2">
                    <a:lumMod val="20000"/>
                    <a:lumOff val="80000"/>
                  </a:schemeClr>
                </a:solidFill>
                <a:latin typeface="得意黑" pitchFamily="2" charset="-122"/>
                <a:ea typeface="得意黑" pitchFamily="2" charset="-122"/>
              </a:rPr>
              <a:t>词法分析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C4DFE0-21EC-CE91-9AA2-A3AE85E0F25A}"/>
              </a:ext>
            </a:extLst>
          </p:cNvPr>
          <p:cNvSpPr txBox="1"/>
          <p:nvPr/>
        </p:nvSpPr>
        <p:spPr>
          <a:xfrm>
            <a:off x="1940689" y="3244334"/>
            <a:ext cx="8488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得意黑" pitchFamily="2" charset="-122"/>
                <a:ea typeface="得意黑" pitchFamily="2" charset="-122"/>
              </a:rPr>
              <a:t>词法分析将源代码字符流依据正则规则扫描过滤，通过DFA识别为规范化记号流，是编译的首步处理。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551A95E-E354-0004-0451-7A1E731DAE39}"/>
              </a:ext>
            </a:extLst>
          </p:cNvPr>
          <p:cNvGrpSpPr/>
          <p:nvPr/>
        </p:nvGrpSpPr>
        <p:grpSpPr>
          <a:xfrm>
            <a:off x="963807" y="2349000"/>
            <a:ext cx="1440000" cy="2160000"/>
            <a:chOff x="945717" y="4157223"/>
            <a:chExt cx="1440000" cy="2160000"/>
          </a:xfrm>
        </p:grpSpPr>
        <p:sp>
          <p:nvSpPr>
            <p:cNvPr id="11" name="矩形: 折角 10">
              <a:extLst>
                <a:ext uri="{FF2B5EF4-FFF2-40B4-BE49-F238E27FC236}">
                  <a16:creationId xmlns:a16="http://schemas.microsoft.com/office/drawing/2014/main" id="{85FEBB50-EBCD-12D0-36DA-639301952A33}"/>
                </a:ext>
              </a:extLst>
            </p:cNvPr>
            <p:cNvSpPr/>
            <p:nvPr/>
          </p:nvSpPr>
          <p:spPr>
            <a:xfrm rot="10800000" flipH="1">
              <a:off x="945717" y="4157223"/>
              <a:ext cx="1440000" cy="2160000"/>
            </a:xfrm>
            <a:prstGeom prst="foldedCorner">
              <a:avLst>
                <a:gd name="adj" fmla="val 37469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9080A4B6-CD87-DEB0-67DB-7C11AB7AD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0917" y="5047639"/>
              <a:ext cx="609600" cy="609600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90CCC1E-960E-2898-9B24-0B9CF40BE38D}"/>
                </a:ext>
              </a:extLst>
            </p:cNvPr>
            <p:cNvSpPr txBox="1"/>
            <p:nvPr/>
          </p:nvSpPr>
          <p:spPr>
            <a:xfrm>
              <a:off x="1696173" y="4939706"/>
              <a:ext cx="386080" cy="297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aseline="30000" dirty="0">
                  <a:solidFill>
                    <a:schemeClr val="bg1">
                      <a:lumMod val="95000"/>
                    </a:schemeClr>
                  </a:solidFill>
                  <a:latin typeface="得意黑" pitchFamily="50" charset="-122"/>
                  <a:ea typeface="得意黑" pitchFamily="50" charset="-122"/>
                </a:rPr>
                <a:t>[1]</a:t>
              </a:r>
              <a:endParaRPr lang="zh-CN" altLang="en-US" sz="2000" baseline="30000" dirty="0">
                <a:solidFill>
                  <a:schemeClr val="bg1">
                    <a:lumMod val="95000"/>
                  </a:schemeClr>
                </a:solidFill>
                <a:latin typeface="得意黑" pitchFamily="50" charset="-122"/>
                <a:ea typeface="得意黑" pitchFamily="50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CDE86B1-B71E-F1DB-0F1E-99D76D393EC4}"/>
              </a:ext>
            </a:extLst>
          </p:cNvPr>
          <p:cNvGrpSpPr/>
          <p:nvPr/>
        </p:nvGrpSpPr>
        <p:grpSpPr>
          <a:xfrm>
            <a:off x="5472574" y="2349000"/>
            <a:ext cx="1674824" cy="2160000"/>
            <a:chOff x="9708790" y="4138888"/>
            <a:chExt cx="1674824" cy="2160000"/>
          </a:xfrm>
        </p:grpSpPr>
        <p:sp>
          <p:nvSpPr>
            <p:cNvPr id="16" name="矩形: 折角 15">
              <a:extLst>
                <a:ext uri="{FF2B5EF4-FFF2-40B4-BE49-F238E27FC236}">
                  <a16:creationId xmlns:a16="http://schemas.microsoft.com/office/drawing/2014/main" id="{C53B4525-9FCE-5503-00A9-0C1B306C73A8}"/>
                </a:ext>
              </a:extLst>
            </p:cNvPr>
            <p:cNvSpPr/>
            <p:nvPr/>
          </p:nvSpPr>
          <p:spPr>
            <a:xfrm rot="10800000" flipH="1">
              <a:off x="9708790" y="4138888"/>
              <a:ext cx="1440000" cy="2160000"/>
            </a:xfrm>
            <a:prstGeom prst="foldedCorner">
              <a:avLst>
                <a:gd name="adj" fmla="val 37469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11A027A-F673-E4EF-C744-432AE84AC4E1}"/>
                </a:ext>
              </a:extLst>
            </p:cNvPr>
            <p:cNvSpPr txBox="1"/>
            <p:nvPr/>
          </p:nvSpPr>
          <p:spPr>
            <a:xfrm>
              <a:off x="9943614" y="4990289"/>
              <a:ext cx="144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得意黑" pitchFamily="2" charset="-122"/>
                  <a:ea typeface="得意黑" pitchFamily="2" charset="-122"/>
                </a:rPr>
                <a:t>Token</a:t>
              </a:r>
              <a:endParaRPr lang="zh-CN" alt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得意黑" pitchFamily="2" charset="-122"/>
                <a:ea typeface="得意黑" pitchFamily="2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F9C3558-3AF7-656D-65EC-A4733069B1A4}"/>
              </a:ext>
            </a:extLst>
          </p:cNvPr>
          <p:cNvGrpSpPr/>
          <p:nvPr/>
        </p:nvGrpSpPr>
        <p:grpSpPr>
          <a:xfrm>
            <a:off x="4777902" y="1867710"/>
            <a:ext cx="3397522" cy="3122579"/>
            <a:chOff x="4777902" y="1867710"/>
            <a:chExt cx="3397522" cy="3122579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4C1A8D54-CF33-151C-0A28-FC79AA7B06B2}"/>
                </a:ext>
              </a:extLst>
            </p:cNvPr>
            <p:cNvSpPr/>
            <p:nvPr/>
          </p:nvSpPr>
          <p:spPr>
            <a:xfrm>
              <a:off x="4777902" y="1867710"/>
              <a:ext cx="2636196" cy="312257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B773225-3281-D183-F7DC-B2DD2ACD31DF}"/>
                </a:ext>
              </a:extLst>
            </p:cNvPr>
            <p:cNvSpPr txBox="1"/>
            <p:nvPr/>
          </p:nvSpPr>
          <p:spPr>
            <a:xfrm>
              <a:off x="4868293" y="3136611"/>
              <a:ext cx="33071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latin typeface="得意黑" pitchFamily="2" charset="-122"/>
                  <a:ea typeface="得意黑" pitchFamily="2" charset="-122"/>
                </a:rPr>
                <a:t>Lexical analyzer</a:t>
              </a:r>
              <a:endParaRPr lang="zh-CN" altLang="en-US" sz="3200" dirty="0">
                <a:solidFill>
                  <a:schemeClr val="tx2">
                    <a:lumMod val="20000"/>
                    <a:lumOff val="80000"/>
                  </a:schemeClr>
                </a:solidFill>
                <a:latin typeface="得意黑" pitchFamily="2" charset="-122"/>
                <a:ea typeface="得意黑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46133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00"/>
    </mc:Choice>
    <mc:Fallback>
      <p:transition spd="slow" advTm="1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500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0 L -1.36367 0 " pathEditMode="relative" rAng="0" ptsTypes="AA">
                                      <p:cBhvr>
                                        <p:cTn id="6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1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25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 L -0.88476 0 " pathEditMode="relative" rAng="0" ptsTypes="AA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2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50"/>
                            </p:stCondLst>
                            <p:childTnLst>
                              <p:par>
                                <p:cTn id="1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 L 5E-6 -0.22755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1"/>
                            </p:stCondLst>
                            <p:childTnLst>
                              <p:par>
                                <p:cTn id="25" presetID="10" presetClass="exit" presetSubtype="0" fill="hold" grpId="1" nodeType="afterEffect">
                                  <p:stCondLst>
                                    <p:cond delay="150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2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751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751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1"/>
                            </p:stCondLst>
                            <p:childTnLst>
                              <p:par>
                                <p:cTn id="38" presetID="42" presetClass="path" presetSubtype="0" accel="50000" decel="5000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8.33333E-7 0 L 0.34011 -3.7037E-6 " pathEditMode="relative" rAng="0" ptsTypes="AA">
                                      <p:cBhvr>
                                        <p:cTn id="3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97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251"/>
                            </p:stCondLst>
                            <p:childTnLst>
                              <p:par>
                                <p:cTn id="4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0 L 0.32304 0 " pathEditMode="relative" rAng="0" ptsTypes="AA">
                                      <p:cBhvr>
                                        <p:cTn id="46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4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5" grpId="1" animBg="1"/>
      <p:bldP spid="6" grpId="0"/>
      <p:bldP spid="6" grpId="1"/>
      <p:bldP spid="6" grpId="2"/>
      <p:bldP spid="15" grpId="0"/>
      <p:bldP spid="1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17BFE6-925C-4EFF-D09E-A49F4EF5C575}"/>
              </a:ext>
            </a:extLst>
          </p:cNvPr>
          <p:cNvSpPr txBox="1"/>
          <p:nvPr/>
        </p:nvSpPr>
        <p:spPr>
          <a:xfrm>
            <a:off x="5704391" y="2488556"/>
            <a:ext cx="416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2">
                    <a:lumMod val="20000"/>
                    <a:lumOff val="80000"/>
                  </a:schemeClr>
                </a:solidFill>
                <a:latin typeface="得意黑" pitchFamily="2" charset="-122"/>
                <a:ea typeface="得意黑" pitchFamily="2" charset="-122"/>
              </a:rPr>
              <a:t>D</a:t>
            </a:r>
            <a:endParaRPr lang="zh-CN" altLang="en-US" sz="3200" dirty="0">
              <a:solidFill>
                <a:schemeClr val="tx2">
                  <a:lumMod val="20000"/>
                  <a:lumOff val="80000"/>
                </a:schemeClr>
              </a:solidFill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024B73-572C-54AB-E2AB-FE395671125D}"/>
              </a:ext>
            </a:extLst>
          </p:cNvPr>
          <p:cNvSpPr txBox="1"/>
          <p:nvPr/>
        </p:nvSpPr>
        <p:spPr>
          <a:xfrm>
            <a:off x="5933957" y="2488557"/>
            <a:ext cx="324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2">
                    <a:lumMod val="20000"/>
                    <a:lumOff val="80000"/>
                  </a:schemeClr>
                </a:solidFill>
                <a:latin typeface="得意黑" pitchFamily="2" charset="-122"/>
                <a:ea typeface="得意黑" pitchFamily="2" charset="-122"/>
              </a:rPr>
              <a:t>F</a:t>
            </a:r>
            <a:endParaRPr lang="zh-CN" altLang="en-US" sz="3200" dirty="0">
              <a:solidFill>
                <a:schemeClr val="tx2">
                  <a:lumMod val="20000"/>
                  <a:lumOff val="80000"/>
                </a:schemeClr>
              </a:solidFill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756B89-C42C-6301-D66A-0E151476FF7E}"/>
              </a:ext>
            </a:extLst>
          </p:cNvPr>
          <p:cNvSpPr txBox="1"/>
          <p:nvPr/>
        </p:nvSpPr>
        <p:spPr>
          <a:xfrm>
            <a:off x="6121080" y="2488556"/>
            <a:ext cx="289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2">
                    <a:lumMod val="20000"/>
                    <a:lumOff val="80000"/>
                  </a:schemeClr>
                </a:solidFill>
                <a:latin typeface="得意黑" pitchFamily="2" charset="-122"/>
                <a:ea typeface="得意黑" pitchFamily="2" charset="-122"/>
              </a:rPr>
              <a:t>A</a:t>
            </a:r>
            <a:endParaRPr lang="zh-CN" altLang="en-US" sz="3200" dirty="0">
              <a:solidFill>
                <a:schemeClr val="tx2">
                  <a:lumMod val="20000"/>
                  <a:lumOff val="80000"/>
                </a:schemeClr>
              </a:solidFill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A81416-17C0-ABFA-2022-3FB2EC64D632}"/>
              </a:ext>
            </a:extLst>
          </p:cNvPr>
          <p:cNvSpPr txBox="1"/>
          <p:nvPr/>
        </p:nvSpPr>
        <p:spPr>
          <a:xfrm>
            <a:off x="3947986" y="2486158"/>
            <a:ext cx="17333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0" i="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得意黑" pitchFamily="2" charset="-122"/>
                <a:ea typeface="得意黑" pitchFamily="2" charset="-122"/>
              </a:rPr>
              <a:t>Determine</a:t>
            </a:r>
            <a:endParaRPr lang="zh-CN" altLang="en-US" sz="3200" dirty="0">
              <a:solidFill>
                <a:schemeClr val="tx2">
                  <a:lumMod val="20000"/>
                  <a:lumOff val="80000"/>
                </a:schemeClr>
              </a:solidFill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E03975-4094-7230-F19B-C6870FA92072}"/>
              </a:ext>
            </a:extLst>
          </p:cNvPr>
          <p:cNvSpPr txBox="1"/>
          <p:nvPr/>
        </p:nvSpPr>
        <p:spPr>
          <a:xfrm>
            <a:off x="5933957" y="2488555"/>
            <a:ext cx="1056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2">
                    <a:lumMod val="20000"/>
                    <a:lumOff val="80000"/>
                  </a:schemeClr>
                </a:solidFill>
                <a:latin typeface="得意黑" pitchFamily="2" charset="-122"/>
                <a:ea typeface="得意黑" pitchFamily="2" charset="-122"/>
              </a:rPr>
              <a:t>Finite</a:t>
            </a:r>
            <a:endParaRPr lang="zh-CN" altLang="en-US" sz="3200" dirty="0">
              <a:solidFill>
                <a:schemeClr val="tx2">
                  <a:lumMod val="20000"/>
                  <a:lumOff val="80000"/>
                </a:schemeClr>
              </a:solidFill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EBB95F-536C-3DA4-BD46-96AA30881314}"/>
              </a:ext>
            </a:extLst>
          </p:cNvPr>
          <p:cNvSpPr txBox="1"/>
          <p:nvPr/>
        </p:nvSpPr>
        <p:spPr>
          <a:xfrm>
            <a:off x="6990247" y="2486158"/>
            <a:ext cx="1844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2">
                    <a:lumMod val="20000"/>
                    <a:lumOff val="80000"/>
                  </a:schemeClr>
                </a:solidFill>
                <a:latin typeface="得意黑" pitchFamily="2" charset="-122"/>
                <a:ea typeface="得意黑" pitchFamily="2" charset="-122"/>
              </a:rPr>
              <a:t>Automaton</a:t>
            </a:r>
            <a:endParaRPr lang="zh-CN" altLang="en-US" sz="3200" dirty="0">
              <a:solidFill>
                <a:schemeClr val="tx2">
                  <a:lumMod val="20000"/>
                  <a:lumOff val="80000"/>
                </a:schemeClr>
              </a:solidFill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EC7091-45C7-0152-FDB0-CC492A47BB15}"/>
              </a:ext>
            </a:extLst>
          </p:cNvPr>
          <p:cNvSpPr txBox="1"/>
          <p:nvPr/>
        </p:nvSpPr>
        <p:spPr>
          <a:xfrm>
            <a:off x="4977914" y="4273765"/>
            <a:ext cx="2236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2">
                    <a:lumMod val="20000"/>
                    <a:lumOff val="80000"/>
                  </a:schemeClr>
                </a:solidFill>
                <a:latin typeface="得意黑" pitchFamily="2" charset="-122"/>
                <a:ea typeface="得意黑" pitchFamily="2" charset="-122"/>
              </a:rPr>
              <a:t>确定有穷自动机</a:t>
            </a:r>
          </a:p>
        </p:txBody>
      </p:sp>
    </p:spTree>
    <p:extLst>
      <p:ext uri="{BB962C8B-B14F-4D97-AF65-F5344CB8AC3E}">
        <p14:creationId xmlns:p14="http://schemas.microsoft.com/office/powerpoint/2010/main" val="100747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4.16667E-6 4.44444E-6 L -0.1448 0.00138 " pathEditMode="relative" rAng="0" ptsTypes="AA">
                                      <p:cBhvr>
                                        <p:cTn id="1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40" y="6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29167E-6 4.44444E-6 L 0.07474 0.00138 " pathEditMode="relative" rAng="0" ptsTypes="AA">
                                      <p:cBhvr>
                                        <p:cTn id="1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7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00"/>
                            </p:stCondLst>
                            <p:childTnLst>
                              <p:par>
                                <p:cTn id="2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1"/>
                            </p:stCondLst>
                            <p:childTnLst>
                              <p:par>
                                <p:cTn id="33" presetID="4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0 -0.13472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  <p:bldP spid="5" grpId="0"/>
      <p:bldP spid="5" grpId="1"/>
      <p:bldP spid="6" grpId="0"/>
      <p:bldP spid="6" grpId="1"/>
      <p:bldP spid="6" grpId="2"/>
      <p:bldP spid="10" grpId="0"/>
      <p:bldP spid="3" grpId="0"/>
      <p:bldP spid="7" grpId="0"/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BCAFDA7-EB1B-B6C3-2919-8B49CCA47DA6}"/>
              </a:ext>
            </a:extLst>
          </p:cNvPr>
          <p:cNvSpPr txBox="1"/>
          <p:nvPr/>
        </p:nvSpPr>
        <p:spPr>
          <a:xfrm>
            <a:off x="102507" y="6448013"/>
            <a:ext cx="44056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得意黑" pitchFamily="50" charset="-122"/>
                <a:ea typeface="得意黑" pitchFamily="50" charset="-122"/>
              </a:rPr>
              <a:t>[1]:</a:t>
            </a:r>
            <a:r>
              <a:rPr lang="zh-CN" altLang="en-US" sz="1050" b="1" dirty="0">
                <a:solidFill>
                  <a:schemeClr val="bg1">
                    <a:lumMod val="95000"/>
                  </a:schemeClr>
                </a:solidFill>
                <a:latin typeface="得意黑" pitchFamily="50" charset="-122"/>
                <a:ea typeface="得意黑" pitchFamily="50" charset="-122"/>
              </a:rPr>
              <a:t>来自</a:t>
            </a:r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得意黑" pitchFamily="50" charset="-122"/>
                <a:ea typeface="得意黑" pitchFamily="50" charset="-122"/>
                <a:hlinkClick r:id="rId2"/>
              </a:rPr>
              <a:t>https://github.com/devicons/devicon/</a:t>
            </a:r>
            <a:endParaRPr lang="en-US" altLang="zh-CN" sz="1050" b="1" dirty="0">
              <a:solidFill>
                <a:schemeClr val="bg1">
                  <a:lumMod val="95000"/>
                </a:schemeClr>
              </a:solidFill>
              <a:latin typeface="得意黑" pitchFamily="50" charset="-122"/>
              <a:ea typeface="得意黑" pitchFamily="50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EB847CA-A4E4-F597-7CB8-A3278AC1E800}"/>
              </a:ext>
            </a:extLst>
          </p:cNvPr>
          <p:cNvSpPr txBox="1"/>
          <p:nvPr/>
        </p:nvSpPr>
        <p:spPr>
          <a:xfrm>
            <a:off x="102507" y="6640495"/>
            <a:ext cx="297034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得意黑" pitchFamily="50" charset="-122"/>
                <a:ea typeface="得意黑" pitchFamily="50" charset="-122"/>
              </a:rPr>
              <a:t>[2]:</a:t>
            </a:r>
            <a:r>
              <a:rPr lang="zh-CN" altLang="en-US" sz="1050" b="1" dirty="0">
                <a:solidFill>
                  <a:schemeClr val="bg1">
                    <a:lumMod val="95000"/>
                  </a:schemeClr>
                </a:solidFill>
                <a:latin typeface="得意黑" pitchFamily="50" charset="-122"/>
                <a:ea typeface="得意黑" pitchFamily="50" charset="-122"/>
              </a:rPr>
              <a:t>来自</a:t>
            </a:r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得意黑" pitchFamily="50" charset="-122"/>
                <a:ea typeface="得意黑" pitchFamily="50" charset="-122"/>
                <a:hlinkClick r:id="rId3"/>
              </a:rPr>
              <a:t>https://github.com/catppuccin/vscode-icons</a:t>
            </a:r>
            <a:r>
              <a:rPr lang="zh-CN" altLang="en-US" sz="1050" b="1" dirty="0">
                <a:solidFill>
                  <a:schemeClr val="bg1">
                    <a:lumMod val="95000"/>
                  </a:schemeClr>
                </a:solidFill>
                <a:latin typeface="得意黑" pitchFamily="50" charset="-122"/>
                <a:ea typeface="得意黑" pitchFamily="50" charset="-122"/>
              </a:rPr>
              <a:t> </a:t>
            </a:r>
            <a:endParaRPr lang="en-US" altLang="zh-CN" sz="1050" b="1" dirty="0">
              <a:solidFill>
                <a:schemeClr val="bg1">
                  <a:lumMod val="95000"/>
                </a:schemeClr>
              </a:solidFill>
              <a:latin typeface="得意黑" pitchFamily="50" charset="-122"/>
              <a:ea typeface="得意黑" pitchFamily="50" charset="-122"/>
            </a:endParaRPr>
          </a:p>
          <a:p>
            <a:endParaRPr lang="zh-CN" altLang="en-US" sz="1050" dirty="0">
              <a:latin typeface="得意黑" pitchFamily="50" charset="-122"/>
              <a:ea typeface="得意黑" pitchFamily="5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869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/>
    </mc:Choice>
    <mc:Fallback xmlns=""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1.1|1.3|0.9|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2.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237</Words>
  <Application>Microsoft Office PowerPoint</Application>
  <PresentationFormat>宽屏</PresentationFormat>
  <Paragraphs>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FiraMono Nerd Font Medium</vt:lpstr>
      <vt:lpstr>得意黑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明浚 陈</dc:creator>
  <cp:lastModifiedBy>明浚 陈</cp:lastModifiedBy>
  <cp:revision>14</cp:revision>
  <dcterms:created xsi:type="dcterms:W3CDTF">2025-07-19T01:38:34Z</dcterms:created>
  <dcterms:modified xsi:type="dcterms:W3CDTF">2025-08-28T07:32:11Z</dcterms:modified>
</cp:coreProperties>
</file>